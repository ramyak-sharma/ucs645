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11"/>
  </p:notesMasterIdLst>
  <p:sldIdLst>
    <p:sldId id="258" r:id="rId2"/>
    <p:sldId id="260" r:id="rId3"/>
    <p:sldId id="259" r:id="rId4"/>
    <p:sldId id="268" r:id="rId5"/>
    <p:sldId id="261" r:id="rId6"/>
    <p:sldId id="264" r:id="rId7"/>
    <p:sldId id="265" r:id="rId8"/>
    <p:sldId id="275" r:id="rId9"/>
    <p:sldId id="269" r:id="rId10"/>
  </p:sldIdLst>
  <p:sldSz cx="14401800" cy="8285163"/>
  <p:notesSz cx="6858000" cy="9144000"/>
  <p:defaultTextStyle>
    <a:defPPr>
      <a:defRPr lang="en-US"/>
    </a:defPPr>
    <a:lvl1pPr marL="0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48172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296345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44517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592690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40862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889035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37207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185380" algn="l" defTabSz="64817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0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E549"/>
    <a:srgbClr val="CA10C6"/>
    <a:srgbClr val="3333FF"/>
    <a:srgbClr val="CC0000"/>
    <a:srgbClr val="FD7171"/>
    <a:srgbClr val="FAC7A8"/>
    <a:srgbClr val="F56F7C"/>
    <a:srgbClr val="B0F6BF"/>
    <a:srgbClr val="FDBBFD"/>
    <a:srgbClr val="ECF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63" y="67"/>
      </p:cViewPr>
      <p:guideLst>
        <p:guide orient="horz" pos="2610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3C1A8-0190-4535-A71C-75C072CB3B6E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9263" y="685800"/>
            <a:ext cx="59594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97A32-56F4-415C-B04F-05F9BB071D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97A32-56F4-415C-B04F-05F9BB071DF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97A32-56F4-415C-B04F-05F9BB071DF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97A32-56F4-415C-B04F-05F9BB071DF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135" y="2573771"/>
            <a:ext cx="12241530" cy="17759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0270" y="4694926"/>
            <a:ext cx="10081260" cy="211731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7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95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43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90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38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86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33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81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643" y="5323995"/>
            <a:ext cx="12241530" cy="1645525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7643" y="3511616"/>
            <a:ext cx="12241530" cy="1812379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7673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295347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430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9069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3836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8604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3371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813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90" y="1933215"/>
            <a:ext cx="6360795" cy="546782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0915" y="1933215"/>
            <a:ext cx="6360795" cy="546782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0" y="1854573"/>
            <a:ext cx="6363296" cy="772898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7673" indent="0">
              <a:buNone/>
              <a:defRPr sz="2800" b="1"/>
            </a:lvl2pPr>
            <a:lvl3pPr marL="1295347" indent="0">
              <a:buNone/>
              <a:defRPr sz="2600" b="1"/>
            </a:lvl3pPr>
            <a:lvl4pPr marL="1943020" indent="0">
              <a:buNone/>
              <a:defRPr sz="2300" b="1"/>
            </a:lvl4pPr>
            <a:lvl5pPr marL="2590694" indent="0">
              <a:buNone/>
              <a:defRPr sz="2300" b="1"/>
            </a:lvl5pPr>
            <a:lvl6pPr marL="3238368" indent="0">
              <a:buNone/>
              <a:defRPr sz="2300" b="1"/>
            </a:lvl6pPr>
            <a:lvl7pPr marL="3886042" indent="0">
              <a:buNone/>
              <a:defRPr sz="2300" b="1"/>
            </a:lvl7pPr>
            <a:lvl8pPr marL="4533715" indent="0">
              <a:buNone/>
              <a:defRPr sz="2300" b="1"/>
            </a:lvl8pPr>
            <a:lvl9pPr marL="518139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90" y="2627470"/>
            <a:ext cx="6363296" cy="4773559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918" y="1854573"/>
            <a:ext cx="6365796" cy="772898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7673" indent="0">
              <a:buNone/>
              <a:defRPr sz="2800" b="1"/>
            </a:lvl2pPr>
            <a:lvl3pPr marL="1295347" indent="0">
              <a:buNone/>
              <a:defRPr sz="2600" b="1"/>
            </a:lvl3pPr>
            <a:lvl4pPr marL="1943020" indent="0">
              <a:buNone/>
              <a:defRPr sz="2300" b="1"/>
            </a:lvl4pPr>
            <a:lvl5pPr marL="2590694" indent="0">
              <a:buNone/>
              <a:defRPr sz="2300" b="1"/>
            </a:lvl5pPr>
            <a:lvl6pPr marL="3238368" indent="0">
              <a:buNone/>
              <a:defRPr sz="2300" b="1"/>
            </a:lvl6pPr>
            <a:lvl7pPr marL="3886042" indent="0">
              <a:buNone/>
              <a:defRPr sz="2300" b="1"/>
            </a:lvl7pPr>
            <a:lvl8pPr marL="4533715" indent="0">
              <a:buNone/>
              <a:defRPr sz="2300" b="1"/>
            </a:lvl8pPr>
            <a:lvl9pPr marL="518139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918" y="2627470"/>
            <a:ext cx="6365796" cy="4773559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103" y="329872"/>
            <a:ext cx="4738093" cy="1403875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704" y="329883"/>
            <a:ext cx="8051006" cy="7071157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103" y="1733749"/>
            <a:ext cx="4738093" cy="5667282"/>
          </a:xfrm>
        </p:spPr>
        <p:txBody>
          <a:bodyPr/>
          <a:lstStyle>
            <a:lvl1pPr marL="0" indent="0">
              <a:buNone/>
              <a:defRPr sz="2000"/>
            </a:lvl1pPr>
            <a:lvl2pPr marL="647673" indent="0">
              <a:buNone/>
              <a:defRPr sz="1700"/>
            </a:lvl2pPr>
            <a:lvl3pPr marL="1295347" indent="0">
              <a:buNone/>
              <a:defRPr sz="1400"/>
            </a:lvl3pPr>
            <a:lvl4pPr marL="1943020" indent="0">
              <a:buNone/>
              <a:defRPr sz="1300"/>
            </a:lvl4pPr>
            <a:lvl5pPr marL="2590694" indent="0">
              <a:buNone/>
              <a:defRPr sz="1300"/>
            </a:lvl5pPr>
            <a:lvl6pPr marL="3238368" indent="0">
              <a:buNone/>
              <a:defRPr sz="1300"/>
            </a:lvl6pPr>
            <a:lvl7pPr marL="3886042" indent="0">
              <a:buNone/>
              <a:defRPr sz="1300"/>
            </a:lvl7pPr>
            <a:lvl8pPr marL="4533715" indent="0">
              <a:buNone/>
              <a:defRPr sz="1300"/>
            </a:lvl8pPr>
            <a:lvl9pPr marL="518139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854" y="5799614"/>
            <a:ext cx="8641080" cy="684677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22854" y="740295"/>
            <a:ext cx="8641080" cy="4971098"/>
          </a:xfrm>
        </p:spPr>
        <p:txBody>
          <a:bodyPr/>
          <a:lstStyle>
            <a:lvl1pPr marL="0" indent="0">
              <a:buNone/>
              <a:defRPr sz="4500"/>
            </a:lvl1pPr>
            <a:lvl2pPr marL="647673" indent="0">
              <a:buNone/>
              <a:defRPr sz="4000"/>
            </a:lvl2pPr>
            <a:lvl3pPr marL="1295347" indent="0">
              <a:buNone/>
              <a:defRPr sz="3400"/>
            </a:lvl3pPr>
            <a:lvl4pPr marL="1943020" indent="0">
              <a:buNone/>
              <a:defRPr sz="2800"/>
            </a:lvl4pPr>
            <a:lvl5pPr marL="2590694" indent="0">
              <a:buNone/>
              <a:defRPr sz="2800"/>
            </a:lvl5pPr>
            <a:lvl6pPr marL="3238368" indent="0">
              <a:buNone/>
              <a:defRPr sz="2800"/>
            </a:lvl6pPr>
            <a:lvl7pPr marL="3886042" indent="0">
              <a:buNone/>
              <a:defRPr sz="2800"/>
            </a:lvl7pPr>
            <a:lvl8pPr marL="4533715" indent="0">
              <a:buNone/>
              <a:defRPr sz="2800"/>
            </a:lvl8pPr>
            <a:lvl9pPr marL="5181390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22854" y="6484294"/>
            <a:ext cx="8641080" cy="972355"/>
          </a:xfrm>
        </p:spPr>
        <p:txBody>
          <a:bodyPr/>
          <a:lstStyle>
            <a:lvl1pPr marL="0" indent="0">
              <a:buNone/>
              <a:defRPr sz="2000"/>
            </a:lvl1pPr>
            <a:lvl2pPr marL="647673" indent="0">
              <a:buNone/>
              <a:defRPr sz="1700"/>
            </a:lvl2pPr>
            <a:lvl3pPr marL="1295347" indent="0">
              <a:buNone/>
              <a:defRPr sz="1400"/>
            </a:lvl3pPr>
            <a:lvl4pPr marL="1943020" indent="0">
              <a:buNone/>
              <a:defRPr sz="1300"/>
            </a:lvl4pPr>
            <a:lvl5pPr marL="2590694" indent="0">
              <a:buNone/>
              <a:defRPr sz="1300"/>
            </a:lvl5pPr>
            <a:lvl6pPr marL="3238368" indent="0">
              <a:buNone/>
              <a:defRPr sz="1300"/>
            </a:lvl6pPr>
            <a:lvl7pPr marL="3886042" indent="0">
              <a:buNone/>
              <a:defRPr sz="1300"/>
            </a:lvl7pPr>
            <a:lvl8pPr marL="4533715" indent="0">
              <a:buNone/>
              <a:defRPr sz="1300"/>
            </a:lvl8pPr>
            <a:lvl9pPr marL="518139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41305" y="331801"/>
            <a:ext cx="3240405" cy="70692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90" y="331801"/>
            <a:ext cx="9481185" cy="706923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</p:spPr>
        <p:txBody>
          <a:bodyPr vert="horz" lIns="129532" tIns="64763" rIns="129532" bIns="6476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0" y="1933215"/>
            <a:ext cx="12961620" cy="5467825"/>
          </a:xfrm>
          <a:prstGeom prst="rect">
            <a:avLst/>
          </a:prstGeom>
        </p:spPr>
        <p:txBody>
          <a:bodyPr vert="horz" lIns="129532" tIns="64763" rIns="129532" bIns="6476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</p:spPr>
        <p:txBody>
          <a:bodyPr vert="horz" lIns="129532" tIns="64763" rIns="129532" bIns="64763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8E9F3-B9D6-EB4D-8C35-2763E7F1C1C4}" type="datetimeFigureOut">
              <a:rPr lang="en-US" smtClean="0"/>
              <a:pPr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</p:spPr>
        <p:txBody>
          <a:bodyPr vert="horz" lIns="129532" tIns="64763" rIns="129532" bIns="64763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</p:spPr>
        <p:txBody>
          <a:bodyPr vert="horz" lIns="129532" tIns="64763" rIns="129532" bIns="64763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20CF4-349B-4D4F-9D5C-59B9A2C38D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1295347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5755" indent="-485755" algn="l" defTabSz="1295347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52466" indent="-404797" algn="l" defTabSz="1295347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19184" indent="-323837" algn="l" defTabSz="1295347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66857" indent="-323837" algn="l" defTabSz="129534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14530" indent="-323837" algn="l" defTabSz="1295347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62204" indent="-323837" algn="l" defTabSz="129534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09880" indent="-323837" algn="l" defTabSz="129534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57551" indent="-323837" algn="l" defTabSz="129534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05227" indent="-323837" algn="l" defTabSz="129534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7673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47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43020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590694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38368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6042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33715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90" algn="l" defTabSz="129534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456"/>
            <a:ext cx="14401800" cy="83116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79900" y="6692900"/>
            <a:ext cx="67818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Lecture Series: UTA025</a:t>
            </a:r>
          </a:p>
          <a:p>
            <a:pPr algn="ctr"/>
            <a:r>
              <a:rPr lang="en-US" sz="4800" b="1" dirty="0" smtClean="0"/>
              <a:t>Opportunity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" y="6169680"/>
            <a:ext cx="3657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Richa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Babbar</a:t>
            </a:r>
            <a:endParaRPr lang="en-US" sz="2000" b="1" dirty="0" smtClean="0"/>
          </a:p>
          <a:p>
            <a:r>
              <a:rPr lang="en-US" sz="2000" b="1" dirty="0" smtClean="0"/>
              <a:t>Associate Prof., CED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790259_1872610862758572_5227630052780236864_n.png"/>
          <p:cNvPicPr>
            <a:picLocks noChangeAspect="1"/>
          </p:cNvPicPr>
          <p:nvPr/>
        </p:nvPicPr>
        <p:blipFill>
          <a:blip r:embed="rId3"/>
          <a:srcRect l="19111" r="19259" b="29046"/>
          <a:stretch>
            <a:fillRect/>
          </a:stretch>
        </p:blipFill>
        <p:spPr>
          <a:xfrm>
            <a:off x="13430573" y="7370764"/>
            <a:ext cx="794237" cy="914399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ln w="28575">
            <a:solidFill>
              <a:srgbClr val="3333FF"/>
            </a:solidFill>
          </a:ln>
        </p:spPr>
        <p:txBody>
          <a:bodyPr/>
          <a:lstStyle/>
          <a:p>
            <a:r>
              <a:rPr lang="en-US" dirty="0" smtClean="0"/>
              <a:t>Opportunity Evaluation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What?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Why?</a:t>
            </a:r>
          </a:p>
          <a:p>
            <a:pPr lvl="1"/>
            <a:r>
              <a:rPr lang="en-US" smtClean="0">
                <a:solidFill>
                  <a:srgbClr val="C00000"/>
                </a:solidFill>
              </a:rPr>
              <a:t>When?</a:t>
            </a:r>
            <a:endParaRPr lang="en-US" dirty="0" smtClean="0">
              <a:solidFill>
                <a:srgbClr val="C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 w="28575">
            <a:noFill/>
          </a:ln>
        </p:spPr>
        <p:txBody>
          <a:bodyPr/>
          <a:lstStyle/>
          <a:p>
            <a:pPr algn="l"/>
            <a:r>
              <a:rPr lang="en-US" dirty="0" smtClean="0"/>
              <a:t>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790259_1872610862758572_5227630052780236864_n.png"/>
          <p:cNvPicPr>
            <a:picLocks noChangeAspect="1"/>
          </p:cNvPicPr>
          <p:nvPr/>
        </p:nvPicPr>
        <p:blipFill>
          <a:blip r:embed="rId2"/>
          <a:srcRect l="19111" r="19259" b="29046"/>
          <a:stretch>
            <a:fillRect/>
          </a:stretch>
        </p:blipFill>
        <p:spPr>
          <a:xfrm>
            <a:off x="13430573" y="7370764"/>
            <a:ext cx="794237" cy="91439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 w="28575">
            <a:noFill/>
          </a:ln>
        </p:spPr>
        <p:txBody>
          <a:bodyPr/>
          <a:lstStyle/>
          <a:p>
            <a:pPr algn="l"/>
            <a:r>
              <a:rPr lang="en-US" dirty="0" smtClean="0"/>
              <a:t>Evaluation Process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noFill/>
          <a:ln w="28575">
            <a:solidFill>
              <a:srgbClr val="3333FF"/>
            </a:solidFill>
          </a:ln>
        </p:spPr>
        <p:txBody>
          <a:bodyPr/>
          <a:lstStyle/>
          <a:p>
            <a:r>
              <a:rPr lang="en-US" dirty="0" smtClean="0"/>
              <a:t>Business Environment</a:t>
            </a:r>
          </a:p>
          <a:p>
            <a:r>
              <a:rPr lang="en-US" dirty="0" smtClean="0"/>
              <a:t>Opportunity Evaluation models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SWOT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PEST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Porter’s Five Force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Business Environment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8575">
            <a:solidFill>
              <a:srgbClr val="3333FF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Internal Environment</a:t>
            </a:r>
          </a:p>
          <a:p>
            <a:pPr lvl="1"/>
            <a:r>
              <a:rPr lang="en-US" dirty="0" smtClean="0"/>
              <a:t>Factors within an organization</a:t>
            </a:r>
          </a:p>
          <a:p>
            <a:pPr lvl="1"/>
            <a:r>
              <a:rPr lang="en-US" dirty="0" smtClean="0"/>
              <a:t>Includes controllable factors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 vision and objective, value system, hiring policies, Human resources etc </a:t>
            </a:r>
          </a:p>
          <a:p>
            <a:r>
              <a:rPr lang="en-US" b="1" dirty="0" smtClean="0"/>
              <a:t>Micro Environment</a:t>
            </a:r>
          </a:p>
          <a:p>
            <a:pPr lvl="1"/>
            <a:r>
              <a:rPr lang="en-US" dirty="0" smtClean="0"/>
              <a:t>Immediate environment of a business</a:t>
            </a:r>
          </a:p>
          <a:p>
            <a:pPr lvl="1"/>
            <a:r>
              <a:rPr lang="en-US" dirty="0" smtClean="0"/>
              <a:t>May or may include controllable factors</a:t>
            </a:r>
          </a:p>
          <a:p>
            <a:pPr lvl="1"/>
            <a:r>
              <a:rPr lang="en-US" dirty="0" smtClean="0"/>
              <a:t>E.g. Suppliers, Customers, Competitors, Financiers, stakeholders etc</a:t>
            </a:r>
          </a:p>
          <a:p>
            <a:pPr algn="just"/>
            <a:r>
              <a:rPr lang="en-US" b="1" dirty="0" smtClean="0"/>
              <a:t>Macro Environment</a:t>
            </a:r>
          </a:p>
          <a:p>
            <a:pPr lvl="1"/>
            <a:r>
              <a:rPr lang="en-US" dirty="0" smtClean="0"/>
              <a:t>Represents overall environment</a:t>
            </a:r>
          </a:p>
          <a:p>
            <a:pPr lvl="1"/>
            <a:r>
              <a:rPr lang="en-US" dirty="0" smtClean="0"/>
              <a:t>Includes uncontrollable factors</a:t>
            </a:r>
          </a:p>
          <a:p>
            <a:pPr lvl="1"/>
            <a:r>
              <a:rPr lang="en-US" dirty="0" smtClean="0"/>
              <a:t>e.g. Socio-cultural, Economical, political, legal, Technological factors etc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ln w="28575">
            <a:solidFill>
              <a:srgbClr val="3333F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770903" y="2489200"/>
            <a:ext cx="4524997" cy="4597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/>
              <a:t>Macro </a:t>
            </a:r>
          </a:p>
          <a:p>
            <a:pPr algn="ctr"/>
            <a:r>
              <a:rPr lang="en-US" sz="1800" b="1" dirty="0" smtClean="0"/>
              <a:t>Environment</a:t>
            </a:r>
          </a:p>
          <a:p>
            <a:pPr algn="ctr"/>
            <a:endParaRPr lang="en-US" sz="1800" b="1" dirty="0" smtClean="0"/>
          </a:p>
          <a:p>
            <a:pPr algn="ctr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34453" y="3213100"/>
            <a:ext cx="3543300" cy="3619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Micro </a:t>
            </a:r>
          </a:p>
          <a:p>
            <a:pPr algn="ctr"/>
            <a:r>
              <a:rPr lang="en-US" sz="2000" b="1" dirty="0" smtClean="0"/>
              <a:t>Environment</a:t>
            </a:r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 smtClean="0"/>
          </a:p>
          <a:p>
            <a:pPr algn="ctr"/>
            <a:endParaRPr lang="en-US" sz="1400" dirty="0"/>
          </a:p>
        </p:txBody>
      </p:sp>
      <p:sp>
        <p:nvSpPr>
          <p:cNvPr id="9" name="Oval 8"/>
          <p:cNvSpPr/>
          <p:nvPr/>
        </p:nvSpPr>
        <p:spPr>
          <a:xfrm>
            <a:off x="1793252" y="3968750"/>
            <a:ext cx="2664447" cy="27559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Internal Environment</a:t>
            </a: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60600" y="4914900"/>
            <a:ext cx="1739900" cy="1485900"/>
          </a:xfrm>
          <a:prstGeom prst="ellipse">
            <a:avLst/>
          </a:prstGeom>
          <a:solidFill>
            <a:srgbClr val="49E5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Organization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7" grpId="0" animBg="1"/>
      <p:bldP spid="8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790259_1872610862758572_5227630052780236864_n.png"/>
          <p:cNvPicPr>
            <a:picLocks noChangeAspect="1"/>
          </p:cNvPicPr>
          <p:nvPr/>
        </p:nvPicPr>
        <p:blipFill>
          <a:blip r:embed="rId2"/>
          <a:srcRect l="19111" r="19259" b="29046"/>
          <a:stretch>
            <a:fillRect/>
          </a:stretch>
        </p:blipFill>
        <p:spPr>
          <a:xfrm>
            <a:off x="13430573" y="7213597"/>
            <a:ext cx="794237" cy="91439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0090" y="66939"/>
            <a:ext cx="12961620" cy="1380861"/>
          </a:xfrm>
          <a:ln w="28575">
            <a:noFill/>
          </a:ln>
        </p:spPr>
        <p:txBody>
          <a:bodyPr/>
          <a:lstStyle/>
          <a:p>
            <a:pPr algn="l"/>
            <a:r>
              <a:rPr lang="en-US" dirty="0" smtClean="0"/>
              <a:t>SWOT MODEL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27400" y="1712651"/>
            <a:ext cx="3632200" cy="280854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Strength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Positive &amp; Internal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16800" y="1712651"/>
            <a:ext cx="3632200" cy="2808549"/>
          </a:xfrm>
          <a:prstGeom prst="rect">
            <a:avLst/>
          </a:prstGeom>
          <a:solidFill>
            <a:srgbClr val="FD71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 smtClean="0">
              <a:solidFill>
                <a:schemeClr val="tx1"/>
              </a:solidFill>
            </a:endParaRPr>
          </a:p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Weakness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Negative &amp; Internal</a:t>
            </a:r>
          </a:p>
          <a:p>
            <a:pPr algn="ctr"/>
            <a:endParaRPr lang="en-US" sz="4800" dirty="0" smtClean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27400" y="4976551"/>
            <a:ext cx="3632200" cy="280854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 smtClean="0">
              <a:solidFill>
                <a:schemeClr val="tx1"/>
              </a:solidFill>
            </a:endParaRPr>
          </a:p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Opportunity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Positive &amp; External</a:t>
            </a:r>
          </a:p>
          <a:p>
            <a:pPr algn="ctr"/>
            <a:endParaRPr lang="en-US" sz="4800" dirty="0" smtClean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16800" y="4989251"/>
            <a:ext cx="3632200" cy="28085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 smtClean="0">
              <a:solidFill>
                <a:schemeClr val="tx1"/>
              </a:solidFill>
            </a:endParaRPr>
          </a:p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Threat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Negative &amp; External</a:t>
            </a:r>
          </a:p>
          <a:p>
            <a:pPr algn="ctr"/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26" name="Flowchart: Connector 25"/>
          <p:cNvSpPr/>
          <p:nvPr/>
        </p:nvSpPr>
        <p:spPr>
          <a:xfrm>
            <a:off x="2914650" y="1466429"/>
            <a:ext cx="857250" cy="844971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7" name="Flowchart: Connector 26"/>
          <p:cNvSpPr/>
          <p:nvPr/>
        </p:nvSpPr>
        <p:spPr>
          <a:xfrm>
            <a:off x="10620375" y="1397000"/>
            <a:ext cx="857250" cy="844971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 w="50800">
            <a:solidFill>
              <a:srgbClr val="FD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W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2914650" y="4739957"/>
            <a:ext cx="857250" cy="844971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 w="508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O</a:t>
            </a:r>
            <a:endParaRPr lang="en-US" sz="5400" dirty="0"/>
          </a:p>
        </p:txBody>
      </p:sp>
      <p:sp>
        <p:nvSpPr>
          <p:cNvPr id="29" name="Flowchart: Connector 28"/>
          <p:cNvSpPr/>
          <p:nvPr/>
        </p:nvSpPr>
        <p:spPr>
          <a:xfrm>
            <a:off x="10445750" y="4739957"/>
            <a:ext cx="857250" cy="844971"/>
          </a:xfrm>
          <a:prstGeom prst="flowChartConnector">
            <a:avLst/>
          </a:prstGeom>
          <a:solidFill>
            <a:schemeClr val="accent1"/>
          </a:solidFill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</a:t>
            </a:r>
            <a:endParaRPr lang="en-US" sz="5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4229100" y="2203022"/>
            <a:ext cx="6032500" cy="5302682"/>
            <a:chOff x="4229100" y="2203022"/>
            <a:chExt cx="6032500" cy="5302682"/>
          </a:xfrm>
        </p:grpSpPr>
        <p:cxnSp>
          <p:nvCxnSpPr>
            <p:cNvPr id="38" name="Straight Connector 37"/>
            <p:cNvCxnSpPr/>
            <p:nvPr/>
          </p:nvCxnSpPr>
          <p:spPr>
            <a:xfrm rot="5400000">
              <a:off x="4524162" y="4854362"/>
              <a:ext cx="5302682" cy="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229100" y="4739957"/>
              <a:ext cx="6032500" cy="1588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0090" y="2311400"/>
            <a:ext cx="2607310" cy="2057400"/>
            <a:chOff x="720090" y="2311400"/>
            <a:chExt cx="2607310" cy="2057400"/>
          </a:xfrm>
        </p:grpSpPr>
        <p:sp>
          <p:nvSpPr>
            <p:cNvPr id="30" name="Oval 29"/>
            <p:cNvSpPr/>
            <p:nvPr/>
          </p:nvSpPr>
          <p:spPr>
            <a:xfrm>
              <a:off x="720090" y="2311400"/>
              <a:ext cx="2194560" cy="2057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smtClean="0"/>
            </a:p>
            <a:p>
              <a:pPr algn="ctr"/>
              <a:endParaRPr lang="en-US" sz="2000" dirty="0" smtClean="0"/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Characteristics that give advantage over others</a:t>
              </a:r>
            </a:p>
            <a:p>
              <a:pPr algn="ctr"/>
              <a:endParaRPr lang="en-US" sz="2000" dirty="0" smtClean="0"/>
            </a:p>
            <a:p>
              <a:pPr algn="ctr"/>
              <a:endParaRPr lang="en-US" dirty="0"/>
            </a:p>
          </p:txBody>
        </p:sp>
        <p:sp>
          <p:nvSpPr>
            <p:cNvPr id="40" name="Left Arrow 39"/>
            <p:cNvSpPr/>
            <p:nvPr/>
          </p:nvSpPr>
          <p:spPr>
            <a:xfrm>
              <a:off x="2914650" y="3225800"/>
              <a:ext cx="412750" cy="16510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20090" y="5473697"/>
            <a:ext cx="2607310" cy="2057400"/>
            <a:chOff x="720090" y="5473697"/>
            <a:chExt cx="2607310" cy="2057400"/>
          </a:xfrm>
        </p:grpSpPr>
        <p:sp>
          <p:nvSpPr>
            <p:cNvPr id="31" name="Oval 30"/>
            <p:cNvSpPr/>
            <p:nvPr/>
          </p:nvSpPr>
          <p:spPr>
            <a:xfrm>
              <a:off x="720090" y="5473697"/>
              <a:ext cx="2194560" cy="2057400"/>
            </a:xfrm>
            <a:prstGeom prst="ellipse">
              <a:avLst/>
            </a:prstGeom>
            <a:solidFill>
              <a:srgbClr val="3333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Font typeface="Arial" pitchFamily="34" charset="0"/>
                <a:buChar char="•"/>
              </a:pPr>
              <a:endParaRPr lang="en-US" sz="2000" dirty="0" smtClean="0"/>
            </a:p>
            <a:p>
              <a:pPr algn="ctr"/>
              <a:endParaRPr lang="en-US" sz="1800" dirty="0" smtClean="0"/>
            </a:p>
            <a:p>
              <a:pPr algn="ctr"/>
              <a:r>
                <a:rPr lang="en-US" sz="2000" dirty="0" smtClean="0"/>
                <a:t>Elements that can be exploited for benefit</a:t>
              </a:r>
            </a:p>
            <a:p>
              <a:pPr algn="ctr"/>
              <a:endParaRPr lang="en-US" dirty="0"/>
            </a:p>
          </p:txBody>
        </p:sp>
        <p:sp>
          <p:nvSpPr>
            <p:cNvPr id="41" name="Left Arrow 40"/>
            <p:cNvSpPr/>
            <p:nvPr/>
          </p:nvSpPr>
          <p:spPr>
            <a:xfrm>
              <a:off x="2914650" y="6451600"/>
              <a:ext cx="412750" cy="16510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1049000" y="2387600"/>
            <a:ext cx="2734310" cy="2057400"/>
            <a:chOff x="11049000" y="2387600"/>
            <a:chExt cx="2734310" cy="2057400"/>
          </a:xfrm>
        </p:grpSpPr>
        <p:sp>
          <p:nvSpPr>
            <p:cNvPr id="32" name="Oval 31"/>
            <p:cNvSpPr/>
            <p:nvPr/>
          </p:nvSpPr>
          <p:spPr>
            <a:xfrm>
              <a:off x="11404600" y="2387600"/>
              <a:ext cx="2378710" cy="2057400"/>
            </a:xfrm>
            <a:prstGeom prst="ellipse">
              <a:avLst/>
            </a:prstGeom>
            <a:solidFill>
              <a:srgbClr val="CA10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Characteristics that give disadvantage over others</a:t>
              </a:r>
            </a:p>
            <a:p>
              <a:pPr algn="ctr"/>
              <a:endParaRPr lang="en-US" dirty="0"/>
            </a:p>
          </p:txBody>
        </p:sp>
        <p:sp>
          <p:nvSpPr>
            <p:cNvPr id="42" name="Right Arrow 41"/>
            <p:cNvSpPr/>
            <p:nvPr/>
          </p:nvSpPr>
          <p:spPr>
            <a:xfrm>
              <a:off x="11049000" y="3225800"/>
              <a:ext cx="355600" cy="1651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1049000" y="5473697"/>
            <a:ext cx="2734310" cy="2057400"/>
            <a:chOff x="11049000" y="5473697"/>
            <a:chExt cx="2734310" cy="2057400"/>
          </a:xfrm>
        </p:grpSpPr>
        <p:sp>
          <p:nvSpPr>
            <p:cNvPr id="33" name="Oval 32"/>
            <p:cNvSpPr/>
            <p:nvPr/>
          </p:nvSpPr>
          <p:spPr>
            <a:xfrm>
              <a:off x="11404600" y="5473697"/>
              <a:ext cx="2378710" cy="2057400"/>
            </a:xfrm>
            <a:prstGeom prst="ellipse">
              <a:avLst/>
            </a:prstGeom>
            <a:solidFill>
              <a:srgbClr val="49E54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</a:rPr>
                <a:t>Elements that can cause trouble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11049000" y="6292850"/>
              <a:ext cx="355600" cy="1651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790259_1872610862758572_5227630052780236864_n.png"/>
          <p:cNvPicPr>
            <a:picLocks noChangeAspect="1"/>
          </p:cNvPicPr>
          <p:nvPr/>
        </p:nvPicPr>
        <p:blipFill>
          <a:blip r:embed="rId2"/>
          <a:srcRect l="19111" r="19259" b="29046"/>
          <a:stretch>
            <a:fillRect/>
          </a:stretch>
        </p:blipFill>
        <p:spPr>
          <a:xfrm>
            <a:off x="13430573" y="7213597"/>
            <a:ext cx="794237" cy="91439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0090" y="92339"/>
            <a:ext cx="12961620" cy="1380861"/>
          </a:xfrm>
        </p:spPr>
        <p:txBody>
          <a:bodyPr/>
          <a:lstStyle/>
          <a:p>
            <a:pPr algn="l"/>
            <a:r>
              <a:rPr lang="en-US" dirty="0" smtClean="0"/>
              <a:t>PEST MODEL</a:t>
            </a:r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3524250" y="4563529"/>
            <a:ext cx="3460750" cy="2840571"/>
            <a:chOff x="3524250" y="4563529"/>
            <a:chExt cx="3460750" cy="2840571"/>
          </a:xfrm>
        </p:grpSpPr>
        <p:sp>
          <p:nvSpPr>
            <p:cNvPr id="37" name="Oval 36"/>
            <p:cNvSpPr/>
            <p:nvPr/>
          </p:nvSpPr>
          <p:spPr>
            <a:xfrm>
              <a:off x="3524250" y="4563529"/>
              <a:ext cx="3460750" cy="2840571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 smtClean="0">
                <a:solidFill>
                  <a:schemeClr val="tx1"/>
                </a:solidFill>
              </a:endParaRPr>
            </a:p>
            <a:p>
              <a:pPr algn="ctr"/>
              <a:endParaRPr lang="en-US" sz="24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Social-cultural</a:t>
              </a: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Factors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(Population growth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Life Style changes, consumer attitudes etc )</a:t>
              </a:r>
            </a:p>
            <a:p>
              <a:pPr algn="ctr"/>
              <a:endParaRPr lang="en-US" sz="1600" dirty="0"/>
            </a:p>
          </p:txBody>
        </p:sp>
        <p:sp>
          <p:nvSpPr>
            <p:cNvPr id="28" name="Flowchart: Connector 27"/>
            <p:cNvSpPr/>
            <p:nvPr/>
          </p:nvSpPr>
          <p:spPr>
            <a:xfrm>
              <a:off x="3524250" y="4563529"/>
              <a:ext cx="857250" cy="844971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 w="508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 smtClean="0"/>
                <a:t>S</a:t>
              </a:r>
              <a:endParaRPr lang="en-US" sz="540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334250" y="4563529"/>
            <a:ext cx="3279775" cy="2840571"/>
            <a:chOff x="7334250" y="4563529"/>
            <a:chExt cx="3279775" cy="2840571"/>
          </a:xfrm>
        </p:grpSpPr>
        <p:sp>
          <p:nvSpPr>
            <p:cNvPr id="38" name="Oval 37"/>
            <p:cNvSpPr/>
            <p:nvPr/>
          </p:nvSpPr>
          <p:spPr>
            <a:xfrm>
              <a:off x="7334250" y="4754032"/>
              <a:ext cx="3279775" cy="2650068"/>
            </a:xfrm>
            <a:prstGeom prst="ellipse">
              <a:avLst/>
            </a:prstGeom>
            <a:solidFill>
              <a:srgbClr val="F03EE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Technological</a:t>
              </a: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Factors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(R&amp;D activity,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Emerging Technologies etc)</a:t>
              </a:r>
            </a:p>
            <a:p>
              <a:pPr algn="ctr"/>
              <a:endParaRPr lang="en-US" dirty="0"/>
            </a:p>
          </p:txBody>
        </p:sp>
        <p:sp>
          <p:nvSpPr>
            <p:cNvPr id="29" name="Flowchart: Connector 28"/>
            <p:cNvSpPr/>
            <p:nvPr/>
          </p:nvSpPr>
          <p:spPr>
            <a:xfrm>
              <a:off x="9652000" y="4563529"/>
              <a:ext cx="857250" cy="844971"/>
            </a:xfrm>
            <a:prstGeom prst="flowChartConnector">
              <a:avLst/>
            </a:prstGeom>
            <a:solidFill>
              <a:srgbClr val="F03EEC"/>
            </a:solidFill>
            <a:ln w="508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 smtClean="0"/>
                <a:t>T</a:t>
              </a:r>
              <a:endParaRPr lang="en-US" sz="5400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162800" y="1473200"/>
            <a:ext cx="3200400" cy="2712092"/>
            <a:chOff x="7162800" y="1473200"/>
            <a:chExt cx="3200400" cy="2712092"/>
          </a:xfrm>
        </p:grpSpPr>
        <p:sp>
          <p:nvSpPr>
            <p:cNvPr id="36" name="Oval 35"/>
            <p:cNvSpPr/>
            <p:nvPr/>
          </p:nvSpPr>
          <p:spPr>
            <a:xfrm>
              <a:off x="7162800" y="1666665"/>
              <a:ext cx="3200400" cy="2518627"/>
            </a:xfrm>
            <a:prstGeom prst="ellipse">
              <a:avLst/>
            </a:prstGeom>
            <a:solidFill>
              <a:srgbClr val="FD717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Economic</a:t>
              </a: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Factors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(Labor Costs,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Currency exchange rates</a:t>
              </a:r>
            </a:p>
            <a:p>
              <a:pPr algn="ctr"/>
              <a:r>
                <a:rPr lang="en-US" sz="1800" dirty="0" smtClean="0">
                  <a:solidFill>
                    <a:schemeClr val="bg1"/>
                  </a:solidFill>
                </a:rPr>
                <a:t>Trade Agreements, etc)</a:t>
              </a:r>
            </a:p>
            <a:p>
              <a:pPr algn="ctr"/>
              <a:endParaRPr lang="en-US" dirty="0"/>
            </a:p>
          </p:txBody>
        </p:sp>
        <p:sp>
          <p:nvSpPr>
            <p:cNvPr id="27" name="Flowchart: Connector 26"/>
            <p:cNvSpPr/>
            <p:nvPr/>
          </p:nvSpPr>
          <p:spPr>
            <a:xfrm>
              <a:off x="9505950" y="1473200"/>
              <a:ext cx="857250" cy="844971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 w="50800">
              <a:solidFill>
                <a:srgbClr val="FD71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 smtClean="0">
                  <a:solidFill>
                    <a:schemeClr val="bg1"/>
                  </a:solidFill>
                </a:rPr>
                <a:t>E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470275" y="1473200"/>
            <a:ext cx="3362325" cy="2825329"/>
            <a:chOff x="3470275" y="1473200"/>
            <a:chExt cx="3362325" cy="2825329"/>
          </a:xfrm>
        </p:grpSpPr>
        <p:sp>
          <p:nvSpPr>
            <p:cNvPr id="35" name="Oval 34"/>
            <p:cNvSpPr/>
            <p:nvPr/>
          </p:nvSpPr>
          <p:spPr>
            <a:xfrm>
              <a:off x="3524250" y="1541567"/>
              <a:ext cx="3308350" cy="2756962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Political</a:t>
              </a:r>
            </a:p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Factors</a:t>
              </a:r>
            </a:p>
            <a:p>
              <a:pPr algn="ctr"/>
              <a:r>
                <a:rPr lang="en-US" sz="1800" dirty="0" smtClean="0"/>
                <a:t>(Political stability, Tax policy, tax  rates etc)</a:t>
              </a:r>
            </a:p>
            <a:p>
              <a:pPr algn="ctr"/>
              <a:endParaRPr lang="en-US" dirty="0"/>
            </a:p>
          </p:txBody>
        </p:sp>
        <p:sp>
          <p:nvSpPr>
            <p:cNvPr id="26" name="Flowchart: Connector 25"/>
            <p:cNvSpPr/>
            <p:nvPr/>
          </p:nvSpPr>
          <p:spPr>
            <a:xfrm>
              <a:off x="3470275" y="1473200"/>
              <a:ext cx="857250" cy="844971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 w="508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 smtClean="0">
                  <a:solidFill>
                    <a:schemeClr val="bg1"/>
                  </a:solidFill>
                </a:rPr>
                <a:t>P</a:t>
              </a:r>
              <a:endParaRPr lang="en-US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91490" y="1666665"/>
            <a:ext cx="2902585" cy="2393529"/>
            <a:chOff x="491490" y="1666665"/>
            <a:chExt cx="2902585" cy="2393529"/>
          </a:xfrm>
        </p:grpSpPr>
        <p:sp>
          <p:nvSpPr>
            <p:cNvPr id="39" name="Left Arrow 38"/>
            <p:cNvSpPr/>
            <p:nvPr/>
          </p:nvSpPr>
          <p:spPr>
            <a:xfrm>
              <a:off x="2981325" y="2813050"/>
              <a:ext cx="412750" cy="16510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91490" y="1666665"/>
              <a:ext cx="2175510" cy="23935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 smtClean="0">
                <a:solidFill>
                  <a:schemeClr val="tx1"/>
                </a:solidFill>
              </a:endParaRPr>
            </a:p>
            <a:p>
              <a:pPr algn="ctr"/>
              <a:endParaRPr lang="en-US" sz="18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e.g., Identifying to what degree a government can intervene in overall working of  a unit</a:t>
              </a:r>
            </a:p>
            <a:p>
              <a:pPr algn="ctr"/>
              <a:endParaRPr lang="en-US" sz="2000" dirty="0" smtClean="0">
                <a:solidFill>
                  <a:schemeClr val="tx1"/>
                </a:solidFill>
              </a:endParaRPr>
            </a:p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dirty="0" smtClean="0"/>
                <a:t> </a:t>
              </a:r>
              <a:endParaRPr lang="en-US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45465" y="5010571"/>
            <a:ext cx="2978785" cy="2393529"/>
            <a:chOff x="491490" y="5143500"/>
            <a:chExt cx="2978785" cy="2393529"/>
          </a:xfrm>
        </p:grpSpPr>
        <p:sp>
          <p:nvSpPr>
            <p:cNvPr id="55" name="Left Arrow 54"/>
            <p:cNvSpPr/>
            <p:nvPr/>
          </p:nvSpPr>
          <p:spPr>
            <a:xfrm>
              <a:off x="3057525" y="6089650"/>
              <a:ext cx="412750" cy="16510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91490" y="5143500"/>
              <a:ext cx="2175510" cy="23935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e.g. helping in understanding the customers and finding out what can drive them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0614025" y="1616285"/>
            <a:ext cx="2816548" cy="2393529"/>
            <a:chOff x="10614025" y="1616285"/>
            <a:chExt cx="2816548" cy="2393529"/>
          </a:xfrm>
        </p:grpSpPr>
        <p:sp>
          <p:nvSpPr>
            <p:cNvPr id="59" name="Right Arrow 58"/>
            <p:cNvSpPr/>
            <p:nvPr/>
          </p:nvSpPr>
          <p:spPr>
            <a:xfrm>
              <a:off x="10614025" y="2647950"/>
              <a:ext cx="355600" cy="1651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255063" y="1616285"/>
              <a:ext cx="2175510" cy="23935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>
                  <a:solidFill>
                    <a:schemeClr val="tx1"/>
                  </a:solidFill>
                </a:rPr>
                <a:t>e.g</a:t>
              </a:r>
              <a:r>
                <a:rPr lang="en-US" sz="2000" dirty="0" smtClean="0">
                  <a:solidFill>
                    <a:schemeClr val="tx1"/>
                  </a:solidFill>
                </a:rPr>
                <a:t> guiding the financial  issues/ parameters  such as interest rates that can effect the  cost of production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0791825" y="5010571"/>
            <a:ext cx="2638748" cy="2393529"/>
            <a:chOff x="10791825" y="5143500"/>
            <a:chExt cx="2638748" cy="2393529"/>
          </a:xfrm>
        </p:grpSpPr>
        <p:sp>
          <p:nvSpPr>
            <p:cNvPr id="57" name="Right Arrow 56"/>
            <p:cNvSpPr/>
            <p:nvPr/>
          </p:nvSpPr>
          <p:spPr>
            <a:xfrm>
              <a:off x="10791825" y="5924550"/>
              <a:ext cx="355600" cy="16510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255063" y="5143500"/>
              <a:ext cx="2175510" cy="23935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e.g. Identifying how the goods can be produced and distributed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753100" y="3594101"/>
            <a:ext cx="2413000" cy="2095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Rivalry amongst existing competitors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794000" y="3390901"/>
            <a:ext cx="2959100" cy="22987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Bargaining power of customers</a:t>
            </a:r>
            <a:endParaRPr lang="en-US" sz="2400" dirty="0"/>
          </a:p>
        </p:txBody>
      </p:sp>
      <p:sp>
        <p:nvSpPr>
          <p:cNvPr id="7" name="Up Arrow 6"/>
          <p:cNvSpPr/>
          <p:nvPr/>
        </p:nvSpPr>
        <p:spPr>
          <a:xfrm>
            <a:off x="5308600" y="5689601"/>
            <a:ext cx="3263900" cy="246380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Threat of substitutes</a:t>
            </a:r>
            <a:endParaRPr lang="en-US" sz="2400" dirty="0"/>
          </a:p>
        </p:txBody>
      </p:sp>
      <p:sp>
        <p:nvSpPr>
          <p:cNvPr id="8" name="Down Arrow 7"/>
          <p:cNvSpPr/>
          <p:nvPr/>
        </p:nvSpPr>
        <p:spPr>
          <a:xfrm>
            <a:off x="5308600" y="1181101"/>
            <a:ext cx="3048000" cy="2413000"/>
          </a:xfrm>
          <a:prstGeom prst="downArrow">
            <a:avLst/>
          </a:prstGeom>
          <a:solidFill>
            <a:srgbClr val="F03E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smtClean="0"/>
          </a:p>
          <a:p>
            <a:pPr algn="ctr"/>
            <a:r>
              <a:rPr lang="en-US" sz="2400" dirty="0" smtClean="0"/>
              <a:t>Threat of new entrants</a:t>
            </a:r>
            <a:endParaRPr lang="en-US" sz="2400" dirty="0"/>
          </a:p>
        </p:txBody>
      </p:sp>
      <p:sp>
        <p:nvSpPr>
          <p:cNvPr id="9" name="Left Arrow 8"/>
          <p:cNvSpPr/>
          <p:nvPr/>
        </p:nvSpPr>
        <p:spPr>
          <a:xfrm>
            <a:off x="8166100" y="3390901"/>
            <a:ext cx="3132015" cy="2298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Bargaining power of suppliers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9804400" y="1181101"/>
            <a:ext cx="3911600" cy="2413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 smtClean="0">
              <a:solidFill>
                <a:srgbClr val="FF0000"/>
              </a:solidFill>
            </a:endParaRPr>
          </a:p>
          <a:p>
            <a:pPr algn="ctr"/>
            <a:endParaRPr lang="en-US" sz="2000" b="1" dirty="0" smtClean="0">
              <a:solidFill>
                <a:srgbClr val="FF0000"/>
              </a:solidFill>
            </a:endParaRPr>
          </a:p>
          <a:p>
            <a:pPr algn="ctr"/>
            <a:endParaRPr lang="en-US" sz="2400" b="1" dirty="0" smtClean="0">
              <a:solidFill>
                <a:srgbClr val="FF0000"/>
              </a:solidFill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Objective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Determine competitive intensity of  a firm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Considers </a:t>
            </a:r>
            <a:r>
              <a:rPr lang="en-US" sz="2000" b="1" dirty="0" smtClean="0">
                <a:solidFill>
                  <a:schemeClr val="tx1"/>
                </a:solidFill>
              </a:rPr>
              <a:t>five</a:t>
            </a:r>
            <a:r>
              <a:rPr lang="en-US" sz="2000" dirty="0" smtClean="0">
                <a:solidFill>
                  <a:schemeClr val="tx1"/>
                </a:solidFill>
              </a:rPr>
              <a:t> forces for analysis and  find their </a:t>
            </a:r>
            <a:r>
              <a:rPr lang="en-US" sz="2000" dirty="0" err="1" smtClean="0">
                <a:solidFill>
                  <a:schemeClr val="tx1"/>
                </a:solidFill>
              </a:rPr>
              <a:t>their</a:t>
            </a:r>
            <a:r>
              <a:rPr lang="en-US" sz="2000" dirty="0" smtClean="0">
                <a:solidFill>
                  <a:schemeClr val="tx1"/>
                </a:solidFill>
              </a:rPr>
              <a:t> role in shaping strategy  for profitability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109200" y="5372100"/>
            <a:ext cx="3911600" cy="2616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Keywords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Economies of scale,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Product differentiation,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Switching cost,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Barriers of Entry,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Exit Barriers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5600" y="1181102"/>
            <a:ext cx="3911600" cy="2413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Model is named after Harvard Business School professor </a:t>
            </a:r>
            <a:r>
              <a:rPr lang="en-US" b="1" dirty="0" smtClean="0">
                <a:solidFill>
                  <a:schemeClr val="tx1"/>
                </a:solidFill>
              </a:rPr>
              <a:t>Michael E. </a:t>
            </a:r>
            <a:r>
              <a:rPr lang="en-US" b="1" dirty="0" smtClean="0">
                <a:solidFill>
                  <a:srgbClr val="FF0000"/>
                </a:solidFill>
              </a:rPr>
              <a:t>Porter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5600" y="5372100"/>
            <a:ext cx="3911600" cy="2616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Analysis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Competitive forces are classified into three categories: 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Weak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b="1" dirty="0" smtClean="0">
                <a:solidFill>
                  <a:schemeClr val="tx1"/>
                </a:solidFill>
              </a:rPr>
              <a:t>medium</a:t>
            </a:r>
            <a:r>
              <a:rPr lang="en-US" sz="2400" dirty="0" smtClean="0">
                <a:solidFill>
                  <a:schemeClr val="tx1"/>
                </a:solidFill>
              </a:rPr>
              <a:t>, and </a:t>
            </a:r>
            <a:r>
              <a:rPr lang="en-US" sz="2400" b="1" dirty="0" smtClean="0">
                <a:solidFill>
                  <a:schemeClr val="tx1"/>
                </a:solidFill>
              </a:rPr>
              <a:t>strong force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80796"/>
            <a:ext cx="12961620" cy="1100305"/>
          </a:xfrm>
        </p:spPr>
        <p:txBody>
          <a:bodyPr/>
          <a:lstStyle/>
          <a:p>
            <a:pPr algn="l"/>
            <a:r>
              <a:rPr lang="en-US" dirty="0" smtClean="0"/>
              <a:t>Porter’s Five Force Model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673" y="2756079"/>
            <a:ext cx="3408218" cy="5071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Bargaining Power of Customers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Examines the power of consumers to put company under pressure</a:t>
            </a: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50980" y="2663386"/>
            <a:ext cx="3289476" cy="5071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Threat of new Entrants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Considers how easy or difficult it is for competitors to join the marketplace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94418" y="2592292"/>
            <a:ext cx="3172693" cy="5071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Threat of products or Substitutes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This studies how easy it is for consumers to switch from a business’s product or service to that of a competitor.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200" dirty="0" smtClean="0">
              <a:solidFill>
                <a:schemeClr val="tx1"/>
              </a:solidFill>
            </a:endParaRP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 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29900" y="2514141"/>
            <a:ext cx="3335482" cy="5071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Bargaining Power of Suppliers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Analyzes  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power a company’s supplier can have to raise its prices or to reduce the quality of purchased goods or services</a:t>
            </a: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81749" y="249383"/>
            <a:ext cx="7072744" cy="2286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Rivalry among Existing Competitors</a:t>
            </a:r>
          </a:p>
          <a:p>
            <a:pPr algn="just"/>
            <a:r>
              <a:rPr lang="en-US" sz="2000" dirty="0" smtClean="0">
                <a:solidFill>
                  <a:schemeClr val="tx1"/>
                </a:solidFill>
              </a:rPr>
              <a:t>Examines how intense the competition is in the marketplace</a:t>
            </a:r>
          </a:p>
          <a:p>
            <a:pPr algn="just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1915391" y="484381"/>
            <a:ext cx="1714500" cy="1830626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chemeClr val="tx1"/>
              </a:solidFill>
            </a:endParaRPr>
          </a:p>
          <a:p>
            <a:pPr algn="ctr"/>
            <a:endParaRPr lang="en-US" sz="1600" b="1" dirty="0" smtClean="0">
              <a:solidFill>
                <a:schemeClr val="tx1"/>
              </a:solidFill>
            </a:endParaRP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Cost price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Up Arrow 38"/>
          <p:cNvSpPr/>
          <p:nvPr/>
        </p:nvSpPr>
        <p:spPr>
          <a:xfrm>
            <a:off x="221673" y="476595"/>
            <a:ext cx="1625600" cy="1775781"/>
          </a:xfrm>
          <a:prstGeom prst="up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Selling Price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92500" y="1029584"/>
            <a:ext cx="1041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=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847273" y="814141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-</a:t>
            </a:r>
            <a:endParaRPr lang="en-US" sz="4000" b="1" dirty="0"/>
          </a:p>
        </p:txBody>
      </p:sp>
      <p:sp>
        <p:nvSpPr>
          <p:cNvPr id="43" name="Up Arrow 42"/>
          <p:cNvSpPr/>
          <p:nvPr/>
        </p:nvSpPr>
        <p:spPr>
          <a:xfrm>
            <a:off x="3975670" y="476596"/>
            <a:ext cx="1702301" cy="1598420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Profit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221673" y="2536085"/>
            <a:ext cx="13743709" cy="1588"/>
          </a:xfrm>
          <a:prstGeom prst="line">
            <a:avLst/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848221" y="5218709"/>
            <a:ext cx="5290148" cy="1588"/>
          </a:xfrm>
          <a:prstGeom prst="line">
            <a:avLst/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5400000">
            <a:off x="4494588" y="5307666"/>
            <a:ext cx="5290148" cy="1588"/>
          </a:xfrm>
          <a:prstGeom prst="line">
            <a:avLst/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7821242" y="5236572"/>
            <a:ext cx="5290148" cy="1588"/>
          </a:xfrm>
          <a:prstGeom prst="line">
            <a:avLst/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6397" y="1121917"/>
            <a:ext cx="3235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A10C6"/>
                </a:solidFill>
              </a:rPr>
              <a:t>No. and size of competitors</a:t>
            </a:r>
            <a:endParaRPr lang="en-US" sz="2000" b="1" dirty="0">
              <a:solidFill>
                <a:srgbClr val="CA10C6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6772" y="1852266"/>
            <a:ext cx="3880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B050"/>
                </a:solidFill>
              </a:rPr>
              <a:t>Product differentiation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465522" y="1121917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Barrier to exit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1888" y="5050011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49E549"/>
                </a:solidFill>
              </a:rPr>
              <a:t>Switching cost</a:t>
            </a:r>
            <a:endParaRPr lang="en-US" sz="2000" b="1" dirty="0">
              <a:solidFill>
                <a:srgbClr val="49E549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1888" y="5632270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3333FF"/>
                </a:solidFill>
              </a:rPr>
              <a:t>Loyalty programs</a:t>
            </a:r>
            <a:endParaRPr lang="en-US" sz="2000" b="1" dirty="0">
              <a:solidFill>
                <a:srgbClr val="3333FF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1888" y="6221823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Brand Recognition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50980" y="5338311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4">
                    <a:lumMod val="75000"/>
                  </a:schemeClr>
                </a:solidFill>
              </a:rPr>
              <a:t>Customer Loyalty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975670" y="4649901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Entry barrier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50980" y="5832325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3333FF"/>
                </a:solidFill>
              </a:rPr>
              <a:t>Capital cost</a:t>
            </a:r>
            <a:endParaRPr lang="en-US" sz="2000" b="1" dirty="0">
              <a:solidFill>
                <a:srgbClr val="3333FF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50980" y="6232435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C0000"/>
                </a:solidFill>
              </a:rPr>
              <a:t>Economies of scale</a:t>
            </a:r>
            <a:endParaRPr lang="en-US" sz="2000" b="1" dirty="0">
              <a:solidFill>
                <a:srgbClr val="CC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80374" y="5432215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49E549"/>
                </a:solidFill>
              </a:rPr>
              <a:t>No. of substitutes</a:t>
            </a:r>
            <a:endParaRPr lang="en-US" sz="2000" b="1" dirty="0">
              <a:solidFill>
                <a:srgbClr val="49E549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292829" y="6221823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Switching cost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870260" y="5199256"/>
            <a:ext cx="2930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B050"/>
                </a:solidFill>
              </a:rPr>
              <a:t>Concentration of suppliers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870260" y="6032380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A10C6"/>
                </a:solidFill>
              </a:rPr>
              <a:t>Switching cost</a:t>
            </a:r>
            <a:endParaRPr lang="en-US" sz="2000" b="1" dirty="0">
              <a:solidFill>
                <a:srgbClr val="CA10C6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223598" y="1852266"/>
            <a:ext cx="2930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4">
                    <a:lumMod val="75000"/>
                  </a:schemeClr>
                </a:solidFill>
              </a:rPr>
              <a:t>Customer Loyalty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/>
      <p:bldP spid="42" grpId="0"/>
      <p:bldP spid="43" grpId="0" animBg="1"/>
      <p:bldP spid="41" grpId="0"/>
      <p:bldP spid="44" grpId="0"/>
      <p:bldP spid="46" grpId="0"/>
      <p:bldP spid="47" grpId="0"/>
      <p:bldP spid="49" grpId="0"/>
      <p:bldP spid="52" grpId="0"/>
      <p:bldP spid="53" grpId="0"/>
      <p:bldP spid="54" grpId="0"/>
      <p:bldP spid="55" grpId="0"/>
      <p:bldP spid="56" grpId="0"/>
      <p:bldP spid="58" grpId="0"/>
      <p:bldP spid="59" grpId="0"/>
      <p:bldP spid="60" grpId="0"/>
      <p:bldP spid="61" grpId="0"/>
      <p:bldP spid="6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8575">
            <a:solidFill>
              <a:srgbClr val="3333FF"/>
            </a:solidFill>
          </a:ln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Opportunity Evaluation</a:t>
            </a:r>
          </a:p>
          <a:p>
            <a:pPr lvl="1" algn="just"/>
            <a:r>
              <a:rPr lang="en-US" dirty="0" smtClean="0"/>
              <a:t> Is a key stage in an entrepreneurial journey</a:t>
            </a:r>
          </a:p>
          <a:p>
            <a:pPr lvl="1" algn="just"/>
            <a:r>
              <a:rPr lang="en-US" dirty="0" smtClean="0"/>
              <a:t>Framework consists of consideration of factors having direct or indirect  impact</a:t>
            </a:r>
          </a:p>
          <a:p>
            <a:pPr lvl="1" algn="just"/>
            <a:r>
              <a:rPr lang="en-US" dirty="0" smtClean="0"/>
              <a:t>Is performed using various analysis tools also called models</a:t>
            </a:r>
          </a:p>
          <a:p>
            <a:pPr lvl="2" algn="just"/>
            <a:r>
              <a:rPr lang="en-US" b="1" dirty="0" smtClean="0"/>
              <a:t>there is no single model that can be considered to be all inclusive.</a:t>
            </a:r>
          </a:p>
          <a:p>
            <a:pPr lvl="2" algn="just"/>
            <a:r>
              <a:rPr lang="en-US" b="1" dirty="0" smtClean="0"/>
              <a:t>combination of model use is considered overall beneficial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1437</TotalTime>
  <Words>562</Words>
  <Application>Microsoft Office PowerPoint</Application>
  <PresentationFormat>Custom</PresentationFormat>
  <Paragraphs>268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Introduction</vt:lpstr>
      <vt:lpstr>Evaluation Process</vt:lpstr>
      <vt:lpstr>Business Environment</vt:lpstr>
      <vt:lpstr>SWOT MODEL</vt:lpstr>
      <vt:lpstr>PEST MODEL</vt:lpstr>
      <vt:lpstr>Porter’s Five Force Model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91964</cp:lastModifiedBy>
  <cp:revision>235</cp:revision>
  <dcterms:created xsi:type="dcterms:W3CDTF">2018-02-19T06:32:56Z</dcterms:created>
  <dcterms:modified xsi:type="dcterms:W3CDTF">2023-09-02T11:30:48Z</dcterms:modified>
</cp:coreProperties>
</file>